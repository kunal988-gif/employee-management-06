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4114800" cy="411480"/>
          </a:xfrm>
          <a:prstGeom prst="roundRect">
            <a:avLst/>
          </a:prstGeom>
          <a:solidFill>
            <a:srgbClr val="F0FD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766E"/>
                </a:solidFill>
              </a:defRPr>
            </a:pPr>
            <a:r>
              <a:t>SMART INDIA HACKATHON (SIH)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Automated Employee Leave Management</a:t>
            </a:r>
            <a:br/>
            <a:r>
              <a:t>&amp; Quota Tracking System (ELMS)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Eliminating manual approval friction, human ledger errors, and departmental leave overlaps through cloud automation.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108960"/>
            <a:ext cx="484632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766E"/>
                </a:solidFill>
              </a:defRPr>
            </a:pPr>
            <a:r>
              <a:t>PROJECT &amp; DOMAIN DETAILS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Theme / Category: Smart Automation / Office Modernization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Problem Statement Focus: Workforce Leave Governance &amp; Real-Time Tracking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Target Sectors: Educational Departments, SMEs &amp; Modern Startups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Deployment Status: Live &amp; Production-Ready on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108960"/>
            <a:ext cx="493776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766E"/>
                </a:solidFill>
              </a:defRPr>
            </a:pPr>
            <a:r>
              <a:t>TEAM INFORMATION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Institute: [Your College / Institute Name]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Team Leader: [Your Name] (Architecture &amp; Full Stack)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Member 2: [Name] (Backend API &amp; Cloud Infrastructure)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Member 3: [Name] (Database &amp; Data Integrity)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Member 4: [Name] (UI/UX &amp; Accessibility)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Member 5: [Name] (QA &amp; Conflict Validation Engine)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Member 6: [Name] (Documentation &amp; Business Modeling)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SMART INDIA HACKATHON 2024 /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Slide 2: Problem Statement &amp;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B91C1C"/>
                </a:solidFill>
              </a:defRPr>
            </a:pPr>
            <a:r>
              <a:t>THE PROBLEM (CURRENT STATE &amp; PAIN POINTS)</a:t>
            </a:r>
          </a:p>
          <a:p>
            <a:pPr>
              <a:defRPr sz="1100" b="1">
                <a:solidFill>
                  <a:srgbClr val="991B1B"/>
                </a:solidFill>
              </a:defRPr>
            </a:pPr>
            <a:r>
              <a:t>✖ Fragmented &amp; Manual Channels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Leaves are requested via paper forms, informal chat apps, and scattered emails, leading to lost requests and untracked records.</a:t>
            </a:r>
          </a:p>
          <a:p>
            <a:pPr>
              <a:defRPr sz="1100" b="1">
                <a:solidFill>
                  <a:srgbClr val="991B1B"/>
                </a:solidFill>
              </a:defRPr>
            </a:pPr>
            <a:r>
              <a:t>✖ Quota Ambiguity &amp; Balance Disputes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Employees lack real-time visibility into remaining leave quotas, generating repetitive HR inquiries and calculation disputes.</a:t>
            </a:r>
          </a:p>
          <a:p>
            <a:pPr>
              <a:defRPr sz="1100" b="1">
                <a:solidFill>
                  <a:srgbClr val="991B1B"/>
                </a:solidFill>
              </a:defRPr>
            </a:pPr>
            <a:r>
              <a:t>✖ Departmental Operational Blindspots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Absence of centralized leave visibility results in simultaneous approvals of key personnel, causing critical staffing shortages.</a:t>
            </a:r>
          </a:p>
          <a:p>
            <a:pPr>
              <a:defRPr sz="1100" b="1">
                <a:solidFill>
                  <a:srgbClr val="991B1B"/>
                </a:solidFill>
              </a:defRPr>
            </a:pPr>
            <a:r>
              <a:t>✖ Excessive Administrative Burden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Managers spend hours manually calculating days, validating eligibility, and reconciling paper ledgers.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766E"/>
                </a:solidFill>
              </a:defRPr>
            </a:pPr>
            <a:r>
              <a:t>PROPOSED SOLUTION (AUTOMATED CLOUD PLATFORM)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✔ Unified Self-Service Portal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Empowers employees to check real-time quotas across leave types and submit transparent digital requests in seconds.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✔ Proactive Validation Engine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Automated rules prevent overlapping date requests and enforce quota limits before submission, ensuring zero invalid entries.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✔ Admin Central Command Center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Live dashboard showing pending approvals, employees on leave today, and department-wise metrics for informed decision-making.</a:t>
            </a:r>
          </a:p>
          <a:p>
            <a:pPr>
              <a:defRPr sz="1100" b="1">
                <a:solidFill>
                  <a:srgbClr val="0F766E"/>
                </a:solidFill>
              </a:defRPr>
            </a:pPr>
            <a:r>
              <a:t>✔ Automated Balance Reconciliation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One-click approval/rejection with remarks automatically deducts days from personal quota with an auditable historical log.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SMART INDIA HACKATHON 2024 /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Slide 3: Technical Approach, Architecture &amp;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TIER 1: PRESENTATION LAYER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Role-Based Web Client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Dedicated portals for Employees and Administrators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Real-time responsive layout across mobile and desktop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Interactive statistics cards &amp; dynamic balance indicators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Zero client install — runs in any standard 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TIER 2: APPLICATION &amp; LOGIC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Cloud API Gateway &amp; Logic Engine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Token-based cryptographic session verification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Proactive date-overlap prevention algorithm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Automated day duration calculator (inclusive dates)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Status transition workflows with audit remarks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8328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TIER 3: DATA &amp; PERSISTENCE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Cloud Distributed Document Store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Normalized employee profiles &amp; credential hashes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Dynamic leave type schemas with quota parameters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Chronological leave request histories &amp; timestamps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Automatic failover, backup &amp; high-availability clustering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10698480" cy="192024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766E"/>
                </a:solidFill>
              </a:defRPr>
            </a:pPr>
            <a:r>
              <a:t>KEY INNOVATIONS &amp; DISTINCT COMPETITIVE ADVANTAGES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★ Algorithmic Conflict Elimination: Intelligently scans active requests to reject overlapping leave applications before they reach managers.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★ Referential Integrity Safeguard: Strictly guards historical records by barring deletion of leave categories linked to past or active employee applications.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★ Real-Time Department Metrics: Provides live count of staff on leave today, empowering admins to maintain operational continuity.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SMART INDIA HACKATHON 2024 /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Slide 4: Feasibility, Viability &amp; Risk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164592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TECHNICAL FEASIBILITY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Built on mature, cloud-native open standards. Cross-platform compatibility with 100% browser accessibility and zero end-user maintenance.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164592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FINANCIAL VIABILITY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Zero initial hardware investment; leverages low-cost serverless hosting tiers; eliminates expensive proprietary ERP licensing.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1645920"/>
          </a:xfrm>
          <a:prstGeom prst="roundRect">
            <a:avLst/>
          </a:prstGeom>
          <a:solidFill>
            <a:srgbClr val="F0FDFA"/>
          </a:solidFill>
          <a:ln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OPERATIONAL VIABILITY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Consumer-grade, minimalist 3-step workflow requires zero user training. Fast adoption for non-technical academic and corporate staff.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29184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463040"/>
                <a:gridCol w="4846320"/>
              </a:tblGrid>
              <a:tr h="62179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Potential Risk / Challenge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Proactive Mitigation Strategy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Concurrent Leave Applications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Atomic database transactions ensure leave balance cannot drop below zero during simultaneous requests.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Unauthorized Privilege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Strict server-side cryptographic token verification on every endpoint; prevents role spoofing.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Server Latency / High Volume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Stateless cloud API architecture with dynamic auto-scaling to handle peak-period request surges.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User Reluctance to Adopt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Clean, frictionless interface with self-explanatory balances, eliminating technical hurdles for staff.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SMART INDIA HACKATHON 2024 /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Slide 5: Impact, Organizational Benefits &amp;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463040"/>
          </a:xfrm>
          <a:prstGeom prst="roundRect">
            <a:avLst/>
          </a:prstGeom>
          <a:solidFill>
            <a:srgbClr val="F0FD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F766E"/>
                </a:solidFill>
              </a:defRPr>
            </a:pPr>
            <a:r>
              <a:t>85%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Turnaround Reduction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Approvals completed in minutes rather than 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463040"/>
            <a:ext cx="2468880" cy="1463040"/>
          </a:xfrm>
          <a:prstGeom prst="roundRect">
            <a:avLst/>
          </a:prstGeom>
          <a:solidFill>
            <a:srgbClr val="F0FD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F766E"/>
                </a:solidFill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Calculation Accuracy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Zero human error in tracking remaining quotas.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2468880" cy="1463040"/>
          </a:xfrm>
          <a:prstGeom prst="roundRect">
            <a:avLst/>
          </a:prstGeom>
          <a:solidFill>
            <a:srgbClr val="F0FD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F766E"/>
                </a:solidFill>
              </a:defRPr>
            </a:pPr>
            <a:r>
              <a:t>0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Paper Footprint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Complete paperless transition with audit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463040"/>
            <a:ext cx="2468880" cy="1463040"/>
          </a:xfrm>
          <a:prstGeom prst="roundRect">
            <a:avLst/>
          </a:prstGeom>
          <a:solidFill>
            <a:srgbClr val="F0FD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F766E"/>
                </a:solidFill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Visibility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Real-time departmental headcount &amp; leave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21208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766E"/>
                </a:solidFill>
              </a:defRPr>
            </a:pPr>
            <a:r>
              <a:t>TARGET BENEFICIARIES &amp; SECTOR IMPACT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Higher Educational Institutions: Department heads, faculty, lab assistants, and administrative staff.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Small &amp; Medium Enterprises (SMEs): Growing companies requiring enterprise-grade leave governance without high ERP costs.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Healthcare &amp; Critical Operations: Teams requiring strict minimum on-duty staffing thresholds to avoid service disruptions.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108960"/>
            <a:ext cx="521208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766E"/>
                </a:solidFill>
              </a:defRPr>
            </a:pPr>
            <a:r>
              <a:t>COMMERCIALIZATION &amp; HORIZONTAL SCALING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Multi-Tenant Cloud Architecture: Readily extensible to serve multiple colleges or corporate branches on a shared, secure infrastructure.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Modular Policy Configuration: Easily adapts to custom organizational rules: carry-forward leaves, probationary restrictions, and regional holidays.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Low-Cost SaaS Business Model: Affordable per-user/per-month pricing model delivering high ROI and sustainable recurring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SMART INDIA HACKATHON 2024 /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Slide 6: Future Scope, Strategic Roadmap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766E"/>
                </a:solidFill>
              </a:defRPr>
            </a:pPr>
            <a:r>
              <a:t>PHASE 1: SHORT-TERM ROADMAP (0 - 3 MONTHS)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▶ Automated Notification Engine: Instant email and SMS alerts upon submission, managerial review, or status change.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▶ Calendar Synchronization: Two-way integration with Google Calendar and Microsoft Outlook for automatic Out-Of-Office events.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▶ Granular Half-Day / Hourly Leaves: Support for half-day sessions and short-duration emergency permits.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▶ Audit Export &amp; Compliance Reports: One-click export of monthly department leave summaries to Excel / PDF.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766E"/>
                </a:solidFill>
              </a:defRPr>
            </a:pPr>
            <a:r>
              <a:t>PHASE 2: LONG-TERM VISION (3 - 12 MONTHS)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✦ AI-Powered Workload &amp; Risk Forecasting: Predictive intelligence alerting managers when departmental capacity drops below safety levels.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✦ Dedicated Native Mobile Apps: Cross-platform iOS and Android mobile apps for quick thumb-tap approvals by on-the-move executives.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✦ Biometric &amp; Hardware Attendance Sync: API bridge connecting physical biometric / RFID check-in devices with the cloud ledger.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✦ Intelligent Slack &amp; MS Teams Bots: Apply for and approve leaves directly from workplace chat channels.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F0FDFA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766E"/>
                </a:solidFill>
              </a:defRPr>
            </a:pPr>
            <a:r>
              <a:t>CONCLUSION &amp; SUMMARY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The Automated Employee Leave Management System transforms an inefficient, error-prone manual routine into an auditable, transparent, and seamless digital workflow—driving immediate productivity gains and workplace satisfaction.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